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926080"/>
            <a:ext cx="18288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Noto Sans SC"/>
              </a:defRPr>
            </a:pPr>
            <a:r>
              <a:t>Kata Containers</a:t>
            </a:r>
            <a:br/>
            <a:r>
              <a:t>嵌套虚拟化性能基准测试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EFB"/>
                </a:solidFill>
                <a:latin typeface="Noto Sans SC"/>
              </a:defRPr>
            </a:pPr>
            <a:r>
              <a:t>Amazon EKS 1.34  |  2026-04-03 ~ 2026-04-07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CAF9"/>
                </a:solidFill>
                <a:latin typeface="Noto Sans SC"/>
              </a:defRPr>
            </a:pPr>
            <a:r>
              <a:t>L0 物理机 → L1 EC2 (m8i.4xlarge) → L2 Kata microVM → L3 容器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测试概览</a:t>
            </a:r>
          </a:p>
          <a:p>
            <a:pPr>
              <a:defRPr sz="1400">
                <a:solidFill>
                  <a:srgbClr val="BBDEFB"/>
                </a:solidFill>
                <a:latin typeface="Noto Sans SC"/>
              </a:defRPr>
            </a:pPr>
            <a:r>
              <a:t>7 项基准测试总览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59436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测试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目标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关键发现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Test 1: 空闲启动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空闲集群 Pod 启动时间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kata-qemu 70.5s, kata-clh 72.0s, runc 51.8s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Test 2: 饱和启动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节点已饱和时启动时间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kata 开销增大至 85-90s, runc 几乎不变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Test 3: 满载启动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集群满载时多节点启动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kata-clh 在满载下劣化最严重 (92.3s)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Test 4: 稳态资源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运行时稳态 CPU/内存/网关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三者稳态资源消耗接近, 网关均正常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Test 5: 超卖稳定性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200% 超卖 2 小时稳定性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16/16 kata-qemu pods 存活, 0 OOM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Test 6: 运行时开销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CPU/内存/网络/磁盘开销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网络吞吐下降 50-74%, 延迟增加 13x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Test 7: 内存画像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VM 真实内存占用分析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kata-qemu 每 Pod ~204 MiB, kubectl 不可见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测试环境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Noto Sans SC"/>
              </a:defRPr>
            </a:pPr>
            <a:r>
              <a:t>▎ 嵌套虚拟化架构</a:t>
            </a: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Noto Sans SC"/>
              </a:defRPr>
            </a:pPr>
            <a:r>
              <a:t>   L0 物理机 (Intel Bare Metal)</a:t>
            </a: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Noto Sans SC"/>
              </a:defRPr>
            </a:pPr>
            <a:r>
              <a:t>   └─ L1 EC2 实例 (m8i.4xlarge, 16 vCPU, 64 GiB)</a:t>
            </a: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Noto Sans SC"/>
              </a:defRPr>
            </a:pPr>
            <a:r>
              <a:t>       └─ L2 Kata microVM (QEMU / Cloud Hypervisor)</a:t>
            </a: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Noto Sans SC"/>
              </a:defRPr>
            </a:pPr>
            <a:r>
              <a:t>           └─ L3 容器 (应用负载)</a:t>
            </a: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Noto Sans SC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Noto Sans SC"/>
              </a:defRPr>
            </a:pPr>
            <a:r>
              <a:t>▎ 集群配置</a:t>
            </a: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Noto Sans SC"/>
              </a:defRPr>
            </a:pPr>
            <a:r>
              <a:t>   • Amazon EKS 1.34</a:t>
            </a: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Noto Sans SC"/>
              </a:defRPr>
            </a:pPr>
            <a:r>
              <a:t>   • Kata Operator v0.22.2</a:t>
            </a: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Noto Sans SC"/>
              </a:defRPr>
            </a:pPr>
            <a:r>
              <a:t>   • 14 节点 (m8i.4xlarge)</a:t>
            </a: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Noto Sans SC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Noto Sans SC"/>
              </a:defRPr>
            </a:pPr>
            <a:r>
              <a:t>▎ 运行时对比</a:t>
            </a: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Noto Sans SC"/>
              </a:defRPr>
            </a:pPr>
            <a:r>
              <a:t>   • runc — 标准容器运行时 (基线)</a:t>
            </a: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Noto Sans SC"/>
              </a:defRPr>
            </a:pPr>
            <a:r>
              <a:t>   • kata-qemu — QEMU 虚拟机隔离</a:t>
            </a:r>
          </a:p>
          <a:p>
            <a:pPr>
              <a:spcAft>
                <a:spcPts val="400"/>
              </a:spcAft>
              <a:defRPr sz="1500">
                <a:solidFill>
                  <a:srgbClr val="212121"/>
                </a:solidFill>
                <a:latin typeface="Noto Sans SC"/>
              </a:defRPr>
            </a:pPr>
            <a:r>
              <a:t>   • kata-clh — Cloud Hypervisor 虚拟机隔离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Test 1-3: Pod 启动时间对比</a:t>
            </a:r>
          </a:p>
          <a:p>
            <a:pPr>
              <a:defRPr sz="1400">
                <a:solidFill>
                  <a:srgbClr val="BBDEFB"/>
                </a:solidFill>
                <a:latin typeface="Noto Sans SC"/>
              </a:defRPr>
            </a:pPr>
            <a:r>
              <a:t>空闲 / 饱和 / 满载场景</a:t>
            </a:r>
          </a:p>
        </p:txBody>
      </p:sp>
      <p:pic>
        <p:nvPicPr>
          <p:cNvPr id="4" name="Picture 3" descr="test1_3_b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Test 4: 稳态资源对比</a:t>
            </a:r>
          </a:p>
          <a:p>
            <a:pPr>
              <a:defRPr sz="1400">
                <a:solidFill>
                  <a:srgbClr val="BBDEFB"/>
                </a:solidFill>
                <a:latin typeface="Noto Sans SC"/>
              </a:defRPr>
            </a:pPr>
            <a:r>
              <a:t>运行 Istio Bookinfo 应用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运行时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启动时间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CPU (idle)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Memory (idle)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Gateway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runc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47.51s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408 MiB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200 OK ✓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kata-qemu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69.24s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2m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411 MiB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200 OK 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kata-clh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66.20s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401 MiB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200 OK ✓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Noto Sans SC"/>
              </a:defRPr>
            </a:pPr>
            <a:r>
              <a:t>发现: 稳态下三种运行时的 CPU 和内存消耗差异极小。</a:t>
            </a:r>
            <a:br/>
            <a:r>
              <a:t>kata-qemu 启动最慢 (+45.7%), kata-clh 略快 (+39.3%), 但稳态资源几乎一致。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Test 5: 超卖稳定性测试</a:t>
            </a:r>
          </a:p>
          <a:p>
            <a:pPr>
              <a:defRPr sz="1400">
                <a:solidFill>
                  <a:srgbClr val="BBDEFB"/>
                </a:solidFill>
                <a:latin typeface="Noto Sans SC"/>
              </a:defRPr>
            </a:pPr>
            <a:r>
              <a:t>200% CPU 超卖 × 2 小时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60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Noto Sans SC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Noto Sans SC"/>
              </a:defRPr>
            </a:pPr>
            <a:r>
              <a:t>kata-qemu Pods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463040"/>
            <a:ext cx="2560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645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Noto Sans SC"/>
              </a:defRPr>
            </a:pPr>
            <a:r>
              <a:t>8 vCPU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Noto Sans SC"/>
              </a:defRPr>
            </a:pPr>
            <a:r>
              <a:t>节点规格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2560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45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Noto Sans SC"/>
              </a:defRPr>
            </a:pPr>
            <a:r>
              <a:t>200%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Noto Sans SC"/>
              </a:defRPr>
            </a:pPr>
            <a:r>
              <a:t>CPU 超卖比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463040"/>
            <a:ext cx="256032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645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Noto Sans SC"/>
              </a:defRPr>
            </a:pPr>
            <a:r>
              <a:t>2 小时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57575"/>
                </a:solidFill>
                <a:latin typeface="Noto Sans SC"/>
              </a:defRPr>
            </a:pPr>
            <a:r>
              <a:t>持续时间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  <a:latin typeface="Noto Sans SC"/>
              </a:defRPr>
            </a:pPr>
            <a:r>
              <a:t>✓ 16/16 Pods 全部存活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  <a:latin typeface="Noto Sans SC"/>
              </a:defRPr>
            </a:pPr>
            <a:r>
              <a:t>✓ 0 次 OOM Kill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  <a:latin typeface="Noto Sans SC"/>
              </a:defRPr>
            </a:pPr>
            <a:r>
              <a:t>✓ 稳态 CPU 使用率 ≈ 4%</a:t>
            </a:r>
          </a:p>
          <a:p>
            <a:pPr>
              <a:spcAft>
                <a:spcPts val="400"/>
              </a:spcAft>
              <a:defRPr sz="1600">
                <a:solidFill>
                  <a:srgbClr val="212121"/>
                </a:solidFill>
                <a:latin typeface="Noto Sans SC"/>
              </a:defRPr>
            </a:pPr>
            <a:r>
              <a:t>✓ 所有 Pod 功能正常响应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Noto Sans SC"/>
              </a:defRPr>
            </a:pPr>
            <a:r>
              <a:t>结论: kata-qemu 在 200% 超卖条件下表现出色, 可安全用于超卖场景。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Test 6: 运行时开销 — 核心发现</a:t>
            </a:r>
          </a:p>
          <a:p>
            <a:pPr>
              <a:defRPr sz="1400">
                <a:solidFill>
                  <a:srgbClr val="BBDEFB"/>
                </a:solidFill>
                <a:latin typeface="Noto Sans SC"/>
              </a:defRPr>
            </a:pPr>
            <a:r>
              <a:t>颜色编码: 绿色 &lt;5%  |  黄色 5-20%  |  红色 &gt;20%</a:t>
            </a:r>
          </a:p>
        </p:txBody>
      </p:sp>
      <p:pic>
        <p:nvPicPr>
          <p:cNvPr id="4" name="Picture 3" descr="test6_over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Test 6: 详细性能数据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96926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463040"/>
                <a:gridCol w="1463040"/>
                <a:gridCol w="146304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runc (基线)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kata-qemu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kata-clh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qemu 开销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clh 开销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events/s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5,160.6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5,109.9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5,109.4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-1.0%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-1.0%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内存带宽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MiB/s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59,430.6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60,492.2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56,792.3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+1.8%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-4.4%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网络吞吐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Gbps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64.13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31.91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16.56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-50.2%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-74.2%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网络延迟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0.060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0.803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0.837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+1238%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+1295%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磁盘随机IO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read IOPS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1,543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23,562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14,656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+1427%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+850%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磁盘顺序写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MB/s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127.7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2,210.0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2,093.6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+1631%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+1539%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综合压力CPU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bogo ops/s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4,660.0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5,827.0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4,448.2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+25.0%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-4.5%</a:t>
                      </a:r>
                    </a:p>
                  </a:txBody>
                  <a:tcPr anchor="ctr"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综合压力VM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bogo ops/s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37,303.5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44,077.5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39,385.6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+18.2%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+5.6%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Noto Sans SC"/>
              </a:defRPr>
            </a:pPr>
            <a:r>
              <a:t>注: 磁盘 IO 数据差异主要因为 Kata VM 使用 virtio-blk 绕过了 host 文件系统缓存层, 并非真实性能提升。网络开销是最显著的瓶颈。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Test 7A: 单 Pod 内存占用 Delta</a:t>
            </a:r>
          </a:p>
          <a:p>
            <a:pPr>
              <a:defRPr sz="1400">
                <a:solidFill>
                  <a:srgbClr val="BBDEFB"/>
                </a:solidFill>
                <a:latin typeface="Noto Sans SC"/>
              </a:defRPr>
            </a:pPr>
            <a:r>
              <a:t>每个 Pod 在 Host 上消耗的实际内存</a:t>
            </a:r>
          </a:p>
        </p:txBody>
      </p:sp>
      <p:pic>
        <p:nvPicPr>
          <p:cNvPr id="4" name="Picture 3" descr="test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88720"/>
            <a:ext cx="64008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12121"/>
                </a:solidFill>
                <a:latin typeface="Noto Sans SC"/>
              </a:defRPr>
            </a:pPr>
            <a:r>
              <a:t>关键发现:</a:t>
            </a:r>
            <a:br/>
            <a:br/>
            <a:r>
              <a:t>• runc: 仅 4.3 MiB</a:t>
            </a:r>
            <a:br/>
            <a:br/>
            <a:r>
              <a:t>• kata-qemu: 203.7 MiB</a:t>
            </a:r>
            <a:br/>
            <a:br/>
            <a:r>
              <a:t>• 差距: 47 倍</a:t>
            </a:r>
            <a:br/>
            <a:br/>
            <a:r>
              <a:t>每个 Kata Pod 需要</a:t>
            </a:r>
            <a:br/>
            <a:r>
              <a:t>额外 ~200 MiB 用于</a:t>
            </a:r>
            <a:br/>
            <a:r>
              <a:t>VM 运行时开销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Test 7B: QEMU 进程 RSS 分解</a:t>
            </a:r>
          </a:p>
          <a:p>
            <a:pPr>
              <a:defRPr sz="1400">
                <a:solidFill>
                  <a:srgbClr val="BBDEFB"/>
                </a:solidFill>
                <a:latin typeface="Noto Sans SC"/>
              </a:defRPr>
            </a:pPr>
            <a:r>
              <a:t>单个 QEMU 进程的内存组成</a:t>
            </a:r>
          </a:p>
        </p:txBody>
      </p:sp>
      <p:pic>
        <p:nvPicPr>
          <p:cNvPr id="4" name="Picture 3" descr="test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Test 7D &amp; 7E: 内存压力与线性度</a:t>
            </a:r>
          </a:p>
        </p:txBody>
      </p:sp>
      <p:pic>
        <p:nvPicPr>
          <p:cNvPr id="4" name="Picture 3" descr="test7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Test 7C: kubectl 监控盲区</a:t>
            </a:r>
          </a:p>
          <a:p>
            <a:pPr>
              <a:defRPr sz="1400">
                <a:solidFill>
                  <a:srgbClr val="BBDEFB"/>
                </a:solidFill>
                <a:latin typeface="Noto Sans SC"/>
              </a:defRPr>
            </a:pPr>
            <a:r>
              <a:t>⚠ 关键安全发现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solidFill>
            <a:srgbClr val="FFEBEE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62828"/>
                </a:solidFill>
                <a:latin typeface="Noto Sans SC"/>
              </a:defRPr>
            </a:pPr>
            <a:r>
              <a:t>kata-qemu cgroup memory = 0 bytes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12121"/>
                </a:solidFill>
                <a:latin typeface="Noto Sans SC"/>
              </a:defRPr>
            </a:pPr>
            <a:r>
              <a:t>kubectl top 完全看不到 ~269 MiB/pod 的 VM 开销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840480"/>
          <a:ext cx="103327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200400"/>
                <a:gridCol w="210312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运行时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cgroup memory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实际 Host Delta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kubectl 可见?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runc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491,520 bytes (0.47 MiB)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~4.3 MiB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✓ 是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kata-qemu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0 bytes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~204 MiB + 268 MiB QEMU RSS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✗ 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solidFill>
            <a:srgbClr val="E3F2FD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565C0"/>
                </a:solidFill>
                <a:latin typeface="Noto Sans SC"/>
              </a:defRPr>
            </a:pPr>
            <a:r>
              <a:t>⚡ 建议: 必须部署 Host 级监控 (node_exporter + /proc/meminfo)</a:t>
            </a:r>
            <a:br/>
            <a:r>
              <a:t>     不能仅依赖 kubectl top / metrics-server 进行容量管理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kata-qemu vs kata-clh 全面对比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969264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560320"/>
                <a:gridCol w="2560320"/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kata-qemu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kata-clh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推荐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启动 (空闲)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70.45s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72.04s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qemu ≈ clh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启动 (饱和)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85.57s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89.74s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→ kata-qemu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启动 (满载)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68.43s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92.28s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→ kata-qemu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稳态 CPU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2m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1m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→ kata-clh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稳态内存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411 MiB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401 MiB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→ kata-clh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CPU 性能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-1.0%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-1.0%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持平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内存带宽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+1.8%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-4.4%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→ kata-qemu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网络吞吐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-50.2%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-74.2%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→ kata-qemu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网络延迟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0.80ms (13x)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0.84ms (14x)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→ kata-qemu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磁盘随机IO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+1427%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+850%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均优于 runc*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超卖稳定性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✓ 验证通过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未测试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→ kata-qemu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生态成熟度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高 (QEMU)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中 (新)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→ kata-qemu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Noto Sans SC"/>
              </a:defRPr>
            </a:pPr>
            <a:r>
              <a:t>* 磁盘数据因 virtio-blk 绕过 host FS 缓存, 不代表真实存储性能提升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综合结论</a:t>
            </a:r>
          </a:p>
          <a:p>
            <a:pPr>
              <a:defRPr sz="1400">
                <a:solidFill>
                  <a:srgbClr val="BBDEFB"/>
                </a:solidFill>
                <a:latin typeface="Noto Sans SC"/>
              </a:defRPr>
            </a:pPr>
            <a:r>
              <a:t>嵌套虚拟化开销总览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97840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1097280"/>
                <a:gridCol w="475488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开销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评级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生产影响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CPU 计算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&lt; 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✅ 优秀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可忽略, 无需额外规划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内存带宽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&lt; 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✅ 优秀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可忽略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内存占用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~204 MiB/pod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⚠️ 注意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需额外容量规划, 8 pods ≈ 1.6 GiB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网络吞吐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-50% ~ -74%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❌ 显著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高吞吐场景需评估, 考虑 SR-IOV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网络延迟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13x (0.06→0.80ms)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⚠️ 注意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延迟敏感应用需测试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启动时间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+36% ~ +80%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⚠️ 注意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HPA 弹性场景需预热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超卖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200% 验证通过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✅ 优秀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可安全超卖</a:t>
                      </a:r>
                    </a:p>
                  </a:txBody>
                  <a:tcPr anchor="ctr"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可观测性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kubectl 盲区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❌ 关键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121"/>
                          </a:solidFill>
                          <a:latin typeface="Noto Sans SC"/>
                        </a:defRPr>
                      </a:pPr>
                      <a:r>
                        <a:t>必须 Host 级监控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Noto Sans SC"/>
              </a:defRPr>
            </a:pPr>
            <a:r>
              <a:t>总体评价: Kata Containers 在嵌套虚拟化下 CPU/内存性能开销极小, 主要瓶颈在网络和可观测性。推荐 kata-qemu 作为生产运行时。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生产部署建议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Noto Sans SC"/>
              </a:defRPr>
            </a:pPr>
            <a:r>
              <a:t>📐 容量规划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Noto Sans SC"/>
              </a:defRPr>
            </a:pPr>
            <a:r>
              <a:t>• 公式: 节点可用内存 = Total - System - (N_kata × 270 MiB) - Buffer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933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Noto Sans SC"/>
              </a:defRPr>
            </a:pPr>
            <a:r>
              <a:t>• 示例: 64 GiB 节点, 系统预留 4 GiB, 20 Kata pods: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94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Noto Sans SC"/>
              </a:defRPr>
            </a:pPr>
            <a:r>
              <a:t>•   可用 = 64 - 4 - (20 × 0.27) - 4 ≈ 50.6 GiB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4261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Noto Sans SC"/>
              </a:defRPr>
            </a:pPr>
            <a:r>
              <a:t>📊 监控方案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083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Noto Sans SC"/>
              </a:defRPr>
            </a:pPr>
            <a:r>
              <a:t>• 必须: node_exporter + /proc/meminfo (Host 级)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644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Noto Sans SC"/>
              </a:defRPr>
            </a:pPr>
            <a:r>
              <a:t>• 补充: 自定义 metrics 采集 QEMU RSS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Noto Sans SC"/>
              </a:defRPr>
            </a:pPr>
            <a:r>
              <a:t>• 告警: 基于 Host MemAvailable 而非 cgroup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136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Noto Sans SC"/>
              </a:defRPr>
            </a:pPr>
            <a:r>
              <a:t>🚀 启动优化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793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Noto Sans SC"/>
              </a:defRPr>
            </a:pPr>
            <a:r>
              <a:t>• DAX/文件共享: 减少 Guest 内存占用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354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Noto Sans SC"/>
              </a:defRPr>
            </a:pPr>
            <a:r>
              <a:t>• VM 模板/快照: 缩短冷启动时间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914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Noto Sans SC"/>
              </a:defRPr>
            </a:pPr>
            <a:r>
              <a:t>• Pod 预热池: HPA 场景提前拉起 standby pods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846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Noto Sans SC"/>
              </a:defRPr>
            </a:pPr>
            <a:r>
              <a:t>⚖️ 超卖策略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5504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Noto Sans SC"/>
              </a:defRPr>
            </a:pPr>
            <a:r>
              <a:t>• CPU 超卖 200% 验证安全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06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Noto Sans SC"/>
              </a:defRPr>
            </a:pPr>
            <a:r>
              <a:t>• 内存不建议超卖 (VM 固定开销)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062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Noto Sans SC"/>
              </a:defRPr>
            </a:pPr>
            <a:r>
              <a:t>• 混合部署: 非敏感负载用 Kata, 网络密集型用 runc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556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Noto Sans SC"/>
              </a:defRPr>
            </a:pPr>
            <a:r>
              <a:t>🔒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8214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Noto Sans SC"/>
              </a:defRPr>
            </a:pPr>
            <a:r>
              <a:t>• 网络密集型应用需评估吞吐下降影响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70774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Noto Sans SC"/>
              </a:defRPr>
            </a:pPr>
            <a:r>
              <a:t>• 延迟敏感服务建议独立测试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7333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Noto Sans SC"/>
              </a:defRPr>
            </a:pPr>
            <a:r>
              <a:t>• 磁盘性能数据需结合实际存储后端验证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